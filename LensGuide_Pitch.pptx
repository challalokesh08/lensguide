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0800"/>
          </a:xfrm>
          <a:prstGeom prst="rect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937760"/>
            <a:ext cx="2377440" cy="2377440"/>
          </a:xfrm>
          <a:prstGeom prst="ellipse">
            <a:avLst/>
          </a:prstGeom>
          <a:solidFill>
            <a:srgbClr val="1F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669280"/>
            <a:ext cx="1737360" cy="1737360"/>
          </a:xfrm>
          <a:prstGeom prst="ellipse">
            <a:avLst/>
          </a:prstGeom>
          <a:solidFill>
            <a:srgbClr val="1F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C389"/>
                </a:solidFill>
                <a:latin typeface="Calibri"/>
              </a:rPr>
              <a:t>KOGNIVERA HACKATHON 2026  ·  TRAVEL &amp; TOURISM  ·  PS-06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LensGuide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C85C"/>
                </a:solidFill>
                <a:latin typeface="Calibri"/>
              </a:rPr>
              <a:t>Visual Search &amp; AR Travel Companion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6E8"/>
                </a:solidFill>
                <a:latin typeface="Calibri"/>
              </a:rPr>
              <a:t>Snap a landmark, sign, or menu — get an instant, location-aware answer in your own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9204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Snap → Identify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4892040"/>
            <a:ext cx="3474720" cy="457200"/>
          </a:xfrm>
          <a:prstGeom prst="roundRect">
            <a:avLst>
              <a:gd name="adj" fmla="val 50000"/>
            </a:avLst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Translate 3 Languages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89204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Nearby Landmarks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Team Reboot Rebels  ·  Cambridge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C389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Every traveller hits the same 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45720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FFC85C"/>
                </a:solidFill>
                <a:latin typeface="Calibri"/>
              </a:rPr>
              <a:t>PS-06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Calibri"/>
              </a:rPr>
              <a:t>LensGuide · KogniVera Hackathon 2026 · PS-06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6634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2B4A"/>
                </a:solidFill>
                <a:latin typeface="Calibri"/>
              </a:rPr>
              <a:t>A tourist with a camera, but no 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194560"/>
            <a:ext cx="146304" cy="6858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19456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34052"/>
                </a:solidFill>
                <a:latin typeface="Calibri"/>
              </a:rPr>
              <a:t>Identify landmarks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Calibri"/>
              </a:rPr>
              <a:t>That monument is … what, exactly?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80944"/>
            <a:ext cx="146304" cy="6858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980944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34052"/>
                </a:solidFill>
                <a:latin typeface="Calibri"/>
              </a:rPr>
              <a:t>Read signs &amp; menus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Calibri"/>
              </a:rPr>
              <a:t>Cannot read the local script at all.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767328"/>
            <a:ext cx="146304" cy="6858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34052"/>
                </a:solidFill>
                <a:latin typeface="Calibri"/>
              </a:rPr>
              <a:t>Find what's near me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Calibri"/>
              </a:rPr>
              <a:t>No idea where best things are from where I stand.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553712"/>
            <a:ext cx="146304" cy="6858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553712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34052"/>
                </a:solidFill>
                <a:latin typeface="Calibri"/>
              </a:rPr>
              <a:t>Language barrier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Calibri"/>
              </a:rPr>
              <a:t>English ↔ Kannada ↔ Telugu — nowhere, offline.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340096"/>
            <a:ext cx="146304" cy="6858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340096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34052"/>
                </a:solidFill>
                <a:latin typeface="Calibri"/>
              </a:rPr>
              <a:t>Trustworthy info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80"/>
                </a:solidFill>
                <a:latin typeface="Calibri"/>
              </a:rPr>
              <a:t>Generic travel sites, not grounded facts.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463040"/>
            <a:ext cx="5394960" cy="46634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2B4A"/>
                </a:solidFill>
                <a:latin typeface="Calibri"/>
              </a:rPr>
              <a:t>What the 24-hour data gives 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194560"/>
            <a:ext cx="914400" cy="685800"/>
          </a:xfrm>
          <a:prstGeom prst="round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>
                <a:solidFill>
                  <a:srgbClr val="00C389"/>
                </a:solidFill>
              </a:rPr>
              <a:t>60 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19456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052"/>
                </a:solidFill>
                <a:latin typeface="Calibri"/>
              </a:rPr>
              <a:t>labelled landmarks × 10 images each (train/eval split)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980944"/>
            <a:ext cx="914400" cy="685800"/>
          </a:xfrm>
          <a:prstGeom prst="round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>
                <a:solidFill>
                  <a:srgbClr val="00C389"/>
                </a:solidFill>
              </a:rPr>
              <a:t>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980944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052"/>
                </a:solidFill>
                <a:latin typeface="Calibri"/>
              </a:rPr>
              <a:t>menu/sign images with ground-truth text + reference translations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3767328"/>
            <a:ext cx="914400" cy="685800"/>
          </a:xfrm>
          <a:prstGeom prst="round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>
                <a:solidFill>
                  <a:srgbClr val="00C389"/>
                </a:solidFill>
              </a:rPr>
              <a:t>900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767328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052"/>
                </a:solidFill>
                <a:latin typeface="Calibri"/>
              </a:rPr>
              <a:t>grounded POI facts with honest confidence bands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4553712"/>
            <a:ext cx="914400" cy="685800"/>
          </a:xfrm>
          <a:prstGeom prst="round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>
                <a:solidFill>
                  <a:srgbClr val="00C389"/>
                </a:solidFill>
              </a:rPr>
              <a:t>3 languages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553712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052"/>
                </a:solidFill>
                <a:latin typeface="Calibri"/>
              </a:rPr>
              <a:t>BCP-47 only: en-IN · kn-IN · te-IN (Rule R6)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5340096"/>
            <a:ext cx="914400" cy="685800"/>
          </a:xfrm>
          <a:prstGeom prst="round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>
                <a:solidFill>
                  <a:srgbClr val="00C389"/>
                </a:solidFill>
              </a:rPr>
              <a:t>₹0.00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5340096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052"/>
                </a:solidFill>
                <a:latin typeface="Calibri"/>
              </a:rPr>
              <a:t>paid-API budget → local-first AI (LM Studio)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C389"/>
                </a:solidFill>
                <a:latin typeface="Calibr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One camera flow, eight MVP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45720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FFC85C"/>
                </a:solidFill>
                <a:latin typeface="Calibri"/>
              </a:rPr>
              <a:t>PS-06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Calibri"/>
              </a:rPr>
              <a:t>LensGuide · KogniVera Hackathon 2026 · PS-06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2706624" cy="21214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7512" y="1655064"/>
            <a:ext cx="384048" cy="384048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169164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B4A"/>
                </a:solidFill>
                <a:latin typeface="Calibri"/>
              </a:rPr>
              <a:t>Snap → Identify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221992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052"/>
                </a:solidFill>
                <a:latin typeface="Calibri"/>
              </a:rPr>
              <a:t>Camera/upload to landmark, dish, sign or food with location-aware matching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1508760"/>
            <a:ext cx="2706624" cy="21214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75304" y="1655064"/>
            <a:ext cx="384048" cy="384048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169164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B4A"/>
                </a:solidFill>
                <a:latin typeface="Calibri"/>
              </a:rPr>
              <a:t>Visual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2221992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052"/>
                </a:solidFill>
                <a:latin typeface="Calibri"/>
              </a:rPr>
              <a:t>Local vision model recognises real-world landmarks — not just the catalogue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1508760"/>
            <a:ext cx="2706624" cy="21214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83096" y="1655064"/>
            <a:ext cx="384048" cy="384048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169164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B4A"/>
                </a:solidFill>
                <a:latin typeface="Calibri"/>
              </a:rPr>
              <a:t>Translate · 3 languages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221992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052"/>
                </a:solidFill>
                <a:latin typeface="Calibri"/>
              </a:rPr>
              <a:t>Signs &amp; menus → English (en-IN), Kannada (kn-IN), Telugu (te-IN)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26296" y="1508760"/>
            <a:ext cx="2706624" cy="21214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90888" y="1655064"/>
            <a:ext cx="384048" cy="384048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4664" y="169164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B4A"/>
                </a:solidFill>
                <a:latin typeface="Calibri"/>
              </a:rPr>
              <a:t>Nearby Landmarks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2221992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052"/>
                </a:solidFill>
                <a:latin typeface="Calibri"/>
              </a:rPr>
              <a:t>Top 10 places ranked by real device GPS (haversine), tap to open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904488"/>
            <a:ext cx="2706624" cy="21214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7512" y="4050792"/>
            <a:ext cx="384048" cy="384048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" y="4087368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B4A"/>
                </a:solidFill>
                <a:latin typeface="Calibri"/>
              </a:rPr>
              <a:t>Grounded Info Cards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461772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052"/>
                </a:solidFill>
                <a:latin typeface="Calibri"/>
              </a:rPr>
              <a:t>POI facts (poi_facts_kb) + knowledge chunks (place_kb) — honest confidence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10712" y="3904488"/>
            <a:ext cx="2706624" cy="21214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75304" y="4050792"/>
            <a:ext cx="384048" cy="384048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4087368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B4A"/>
                </a:solidFill>
                <a:latin typeface="Calibri"/>
              </a:rPr>
              <a:t>Snap-to-Book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5304" y="461772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052"/>
                </a:solidFill>
                <a:latin typeface="Calibri"/>
              </a:rPr>
              <a:t>Hours, cost (currency-exponent-aware), accessibility, carbon — one tap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18504" y="3904488"/>
            <a:ext cx="2706624" cy="21214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3096" y="4050792"/>
            <a:ext cx="384048" cy="384048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4087368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B4A"/>
                </a:solidFill>
                <a:latin typeface="Calibri"/>
              </a:rPr>
              <a:t>Offline Demo Mode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3096" y="461772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052"/>
                </a:solidFill>
                <a:latin typeface="Calibri"/>
              </a:rPr>
              <a:t>Full POI picker works with zero AI keys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26296" y="3904488"/>
            <a:ext cx="2706624" cy="21214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90888" y="4050792"/>
            <a:ext cx="384048" cy="384048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84664" y="4087368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B4A"/>
                </a:solidFill>
                <a:latin typeface="Calibri"/>
              </a:rPr>
              <a:t>Local-First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0888" y="461772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052"/>
                </a:solidFill>
                <a:latin typeface="Calibri"/>
              </a:rPr>
              <a:t>Qwen3.5 4B on LM Studio — no paid APIs, fully on-device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6053328"/>
            <a:ext cx="11201400" cy="3840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6053328"/>
            <a:ext cx="82296" cy="38404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6108192"/>
            <a:ext cx="10744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2B4A"/>
                </a:solidFill>
                <a:latin typeface="Calibri"/>
              </a:rPr>
              <a:t>Beyond this MVP ▸  AR live overlay · 2.5D routes · 3D landmark models (xr_scenes)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C389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Clean three-tier design, AI at the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45720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FFC85C"/>
                </a:solidFill>
                <a:latin typeface="Calibri"/>
              </a:rPr>
              <a:t>PS-06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Calibri"/>
              </a:rPr>
              <a:t>LensGuide · KogniVera Hackathon 2026 · PS-06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1F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554480"/>
            <a:ext cx="317296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Frontend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Web SPA (JS) + React Native app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Snap / Browse / Translate / Nearby / 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554480"/>
            <a:ext cx="317296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Backend · Flask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/api/identify · /api/translate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/api/poi/* · /api/nearby · /api/health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6304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1F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554480"/>
            <a:ext cx="317296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AI / LLM Layer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LM Studio · Qwen3.5 4B (local)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Gemini fallback · mock · file cache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50208" y="2286000"/>
            <a:ext cx="438912" cy="365760"/>
          </a:xfrm>
          <a:prstGeom prst="rightArrow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836408" y="2286000"/>
            <a:ext cx="438912" cy="365760"/>
          </a:xfrm>
          <a:prstGeom prst="rightArrow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45920" y="3977639"/>
            <a:ext cx="4206240" cy="1417320"/>
          </a:xfrm>
          <a:prstGeom prst="roundRect">
            <a:avLst>
              <a:gd name="adj" fmla="val 12000"/>
            </a:avLst>
          </a:prstGeom>
          <a:solidFill>
            <a:srgbClr val="1F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3936" y="4069079"/>
            <a:ext cx="395020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Read-only SQLite · PS-06.db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D1–D9 canonical tables + poi_facts_kb, place_kb,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poi_travel_matrix, poi_media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977639"/>
            <a:ext cx="4206240" cy="1417320"/>
          </a:xfrm>
          <a:prstGeom prst="roundRect">
            <a:avLst>
              <a:gd name="adj" fmla="val 12000"/>
            </a:avLst>
          </a:prstGeom>
          <a:solidFill>
            <a:srgbClr val="1F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069079"/>
            <a:ext cx="395020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File Cache (.cache/)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LLM responses keyed by hash — shared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across HTTPS (8000) and HTTP (8004)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246120" y="3474720"/>
            <a:ext cx="365760" cy="457200"/>
          </a:xfrm>
          <a:prstGeom prst="downArrow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9692640" y="3474720"/>
            <a:ext cx="365760" cy="457200"/>
          </a:xfrm>
          <a:prstGeom prst="downArrow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62356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B8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62B4A"/>
                </a:solidFill>
                <a:latin typeface="Calibri"/>
              </a:rPr>
              <a:t>GPS → identify: POI within 2 km = catalogue match · beyond 2 km = visual LLM ID + nearby from real device 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202996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A6B80"/>
                </a:solidFill>
                <a:latin typeface="Calibri"/>
              </a:rPr>
              <a:t>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02996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5A6B80"/>
                </a:solidFill>
                <a:latin typeface="Calibri"/>
              </a:rPr>
              <a:t>OpenAI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C389"/>
                </a:solidFill>
                <a:latin typeface="Calibri"/>
              </a:rPr>
              <a:t>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Local-first AI: deterministic, grounded, honest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45720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FFC85C"/>
                </a:solidFill>
                <a:latin typeface="Calibri"/>
              </a:rPr>
              <a:t>PS-06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Calibri"/>
              </a:rPr>
              <a:t>LensGuide · KogniVera Hackathon 2026 · PS-06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2B4A"/>
                </a:solidFill>
                <a:latin typeface="Calibri"/>
              </a:rPr>
              <a:t>Provider chain — openai (local) → gemini → mock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29968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LM Studio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Qwen3.5 4B
port 1234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41448" y="2286000"/>
            <a:ext cx="384048" cy="329184"/>
          </a:xfrm>
          <a:prstGeom prst="rightArrow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25496" y="192024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936" y="2029968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Gemini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free-tier
fallback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64024" y="2286000"/>
            <a:ext cx="384048" cy="329184"/>
          </a:xfrm>
          <a:prstGeom prst="rightArrow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48072" y="192024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5A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9512" y="2029968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Mock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offline
demo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920240"/>
            <a:ext cx="4251960" cy="1828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0574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2B4A"/>
                </a:solidFill>
                <a:latin typeface="Calibri"/>
              </a:rPr>
              <a:t>Tuning for a 4B local model</a:t>
            </a:r>
          </a:p>
        </p:txBody>
      </p:sp>
      <p:sp>
        <p:nvSpPr>
          <p:cNvPr id="20" name="Oval 19"/>
          <p:cNvSpPr/>
          <p:nvPr/>
        </p:nvSpPr>
        <p:spPr>
          <a:xfrm>
            <a:off x="7680960" y="2532888"/>
            <a:ext cx="128016" cy="128016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2487168"/>
            <a:ext cx="3703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052"/>
                </a:solidFill>
                <a:latin typeface="Calibri"/>
              </a:rPr>
              <a:t>enable_thinking=false → fast, token-efficient</a:t>
            </a:r>
          </a:p>
        </p:txBody>
      </p:sp>
      <p:sp>
        <p:nvSpPr>
          <p:cNvPr id="22" name="Oval 21"/>
          <p:cNvSpPr/>
          <p:nvPr/>
        </p:nvSpPr>
        <p:spPr>
          <a:xfrm>
            <a:off x="7680960" y="2843784"/>
            <a:ext cx="128016" cy="128016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798064"/>
            <a:ext cx="3703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052"/>
                </a:solidFill>
                <a:latin typeface="Calibri"/>
              </a:rPr>
              <a:t>Images downscaled to 768 px (context-safe)</a:t>
            </a:r>
          </a:p>
        </p:txBody>
      </p:sp>
      <p:sp>
        <p:nvSpPr>
          <p:cNvPr id="24" name="Oval 23"/>
          <p:cNvSpPr/>
          <p:nvPr/>
        </p:nvSpPr>
        <p:spPr>
          <a:xfrm>
            <a:off x="7680960" y="3154679"/>
            <a:ext cx="128016" cy="128016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3108960"/>
            <a:ext cx="3703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052"/>
                </a:solidFill>
                <a:latin typeface="Calibri"/>
              </a:rPr>
              <a:t>512 max tokens · JSON-only prompts</a:t>
            </a:r>
          </a:p>
        </p:txBody>
      </p:sp>
      <p:sp>
        <p:nvSpPr>
          <p:cNvPr id="26" name="Oval 25"/>
          <p:cNvSpPr/>
          <p:nvPr/>
        </p:nvSpPr>
        <p:spPr>
          <a:xfrm>
            <a:off x="7680960" y="3465575"/>
            <a:ext cx="128016" cy="128016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3419856"/>
            <a:ext cx="3703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052"/>
                </a:solidFill>
                <a:latin typeface="Calibri"/>
              </a:rPr>
              <a:t>In-memory + file cache keyed by message hash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160520"/>
            <a:ext cx="2734056" cy="178308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160520"/>
            <a:ext cx="2734056" cy="128016"/>
          </a:xfrm>
          <a:prstGeom prst="rect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389120"/>
            <a:ext cx="24597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2B4A"/>
                </a:solidFill>
                <a:latin typeface="Calibri"/>
              </a:rPr>
              <a:t>1  Identify (vision)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46320"/>
            <a:ext cx="24597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052"/>
                </a:solidFill>
                <a:latin typeface="Calibri"/>
              </a:rPr>
              <a:t>JSON {kind, name, confidence_score, text}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19856" y="4160520"/>
            <a:ext cx="2734056" cy="178308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734056" cy="128016"/>
          </a:xfrm>
          <a:prstGeom prst="rect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57016" y="4389120"/>
            <a:ext cx="24597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2B4A"/>
                </a:solidFill>
                <a:latin typeface="Calibri"/>
              </a:rPr>
              <a:t>2  OCR 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57016" y="4846320"/>
            <a:ext cx="24597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052"/>
                </a:solidFill>
                <a:latin typeface="Calibri"/>
              </a:rPr>
              <a:t>Extracted from sign / menu / lyrics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36792" y="4160520"/>
            <a:ext cx="2734056" cy="178308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36792" y="4160520"/>
            <a:ext cx="2734056" cy="128016"/>
          </a:xfrm>
          <a:prstGeom prst="rect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4389120"/>
            <a:ext cx="24597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2B4A"/>
                </a:solidFill>
                <a:latin typeface="Calibri"/>
              </a:rPr>
              <a:t>3  Translate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4846320"/>
            <a:ext cx="24597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052"/>
                </a:solidFill>
                <a:latin typeface="Calibri"/>
              </a:rPr>
              <a:t>en-IN direct · kn-IN / te-IN via English pivot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53728" y="4160520"/>
            <a:ext cx="2734056" cy="178308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53728" y="4160520"/>
            <a:ext cx="2734056" cy="128016"/>
          </a:xfrm>
          <a:prstGeom prst="rect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90888" y="4389120"/>
            <a:ext cx="24597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2B4A"/>
                </a:solidFill>
                <a:latin typeface="Calibri"/>
              </a:rPr>
              <a:t>4  Validate script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90888" y="4846320"/>
            <a:ext cx="24597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052"/>
                </a:solidFill>
                <a:latin typeface="Calibri"/>
              </a:rPr>
              <a:t>Kannada ⇢ ಕನ್ನಡ · Telugu ⇢ తెలుగు blocks; retry if wrong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B80"/>
                </a:solidFill>
                <a:latin typeface="Calibri"/>
              </a:rPr>
              <a:t>English pivot: local 4B can't translate kn↔te directly — translate to English first, then to target script. Script validation fails → retry, keeps output native.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C389"/>
                </a:solidFill>
                <a:latin typeface="Calibri"/>
              </a:rP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Built on the official PS-06 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45720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FFC85C"/>
                </a:solidFill>
                <a:latin typeface="Calibri"/>
              </a:rPr>
              <a:t>PS-06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Calibri"/>
              </a:rPr>
              <a:t>LensGuide · KogniVera Hackathon 2026 · PS-06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1920240" cy="93268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502920" cy="932688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7373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C389"/>
                </a:solidFill>
                <a:latin typeface="Calibri"/>
              </a:rPr>
              <a:t>D1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719072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2B4A"/>
                </a:solidFill>
                <a:latin typeface="Calibri"/>
              </a:rPr>
              <a:t>categories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87752" y="1463040"/>
            <a:ext cx="1920240" cy="93268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87752" y="1463040"/>
            <a:ext cx="502920" cy="932688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5184" y="17373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C389"/>
                </a:solidFill>
                <a:latin typeface="Calibri"/>
              </a:rPr>
              <a:t>D2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1719072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2B4A"/>
                </a:solidFill>
                <a:latin typeface="Calibri"/>
              </a:rPr>
              <a:t>currencies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4" y="1463040"/>
            <a:ext cx="1920240" cy="93268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72584" y="1463040"/>
            <a:ext cx="502920" cy="932688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0016" y="17373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C389"/>
                </a:solidFill>
                <a:latin typeface="Calibri"/>
              </a:rPr>
              <a:t>D3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1719072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2B4A"/>
                </a:solidFill>
                <a:latin typeface="Calibri"/>
              </a:rPr>
              <a:t>languages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523744"/>
            <a:ext cx="1920240" cy="93268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523744"/>
            <a:ext cx="502920" cy="932688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79806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C389"/>
                </a:solidFill>
                <a:latin typeface="Calibri"/>
              </a:rPr>
              <a:t>D4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2779776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2B4A"/>
                </a:solidFill>
                <a:latin typeface="Calibri"/>
              </a:rPr>
              <a:t>countries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87752" y="2523744"/>
            <a:ext cx="1920240" cy="93268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87752" y="2523744"/>
            <a:ext cx="502920" cy="932688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5184" y="279806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C389"/>
                </a:solidFill>
                <a:latin typeface="Calibri"/>
              </a:rPr>
              <a:t>D5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27832" y="2779776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2B4A"/>
                </a:solidFill>
                <a:latin typeface="Calibri"/>
              </a:rPr>
              <a:t>cities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72584" y="2523744"/>
            <a:ext cx="1920240" cy="93268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72584" y="2523744"/>
            <a:ext cx="502920" cy="932688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0016" y="279806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C389"/>
                </a:solidFill>
                <a:latin typeface="Calibri"/>
              </a:rPr>
              <a:t>D6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12664" y="2779776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2B4A"/>
                </a:solidFill>
                <a:latin typeface="Calibri"/>
              </a:rPr>
              <a:t>menu_sign_images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584448"/>
            <a:ext cx="1920240" cy="93268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584448"/>
            <a:ext cx="502920" cy="932688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38587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C389"/>
                </a:solidFill>
                <a:latin typeface="Calibri"/>
              </a:rPr>
              <a:t>D7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3840480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2B4A"/>
                </a:solidFill>
                <a:latin typeface="Calibri"/>
              </a:rPr>
              <a:t>xr_scenes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87752" y="3584448"/>
            <a:ext cx="1920240" cy="93268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87752" y="3584448"/>
            <a:ext cx="502920" cy="932688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15184" y="38587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C389"/>
                </a:solidFill>
                <a:latin typeface="Calibri"/>
              </a:rPr>
              <a:t>D8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27832" y="3840480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2B4A"/>
                </a:solidFill>
                <a:latin typeface="Calibri"/>
              </a:rPr>
              <a:t>activities_poi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72584" y="3584448"/>
            <a:ext cx="1920240" cy="93268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672584" y="3584448"/>
            <a:ext cx="502920" cy="932688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0016" y="38587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C389"/>
                </a:solidFill>
                <a:latin typeface="Calibri"/>
              </a:rPr>
              <a:t>D9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12664" y="3840480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2B4A"/>
                </a:solidFill>
                <a:latin typeface="Calibri"/>
              </a:rPr>
              <a:t>landmark_image_set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663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2B4A"/>
                </a:solidFill>
                <a:latin typeface="Calibri"/>
              </a:rPr>
              <a:t>PS-06 extensions added on top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029200"/>
            <a:ext cx="1517904" cy="86868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587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5029200"/>
            <a:ext cx="1517904" cy="6400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5157216"/>
            <a:ext cx="1335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62B4A"/>
                </a:solidFill>
                <a:latin typeface="Calibri"/>
              </a:rPr>
              <a:t>poi_facts_kb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5468112"/>
            <a:ext cx="13350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B80"/>
                </a:solidFill>
                <a:latin typeface="Calibri"/>
              </a:rPr>
              <a:t>grounded facts · confidence bands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05456" y="5029200"/>
            <a:ext cx="1517904" cy="86868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587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05456" y="5029200"/>
            <a:ext cx="1517904" cy="6400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96896" y="5157216"/>
            <a:ext cx="1335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62B4A"/>
                </a:solidFill>
                <a:latin typeface="Calibri"/>
              </a:rPr>
              <a:t>place_kb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96896" y="5468112"/>
            <a:ext cx="13350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B80"/>
                </a:solidFill>
                <a:latin typeface="Calibri"/>
              </a:rPr>
              <a:t>knowledge chunks · title + body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07992" y="5029200"/>
            <a:ext cx="1517904" cy="86868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587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07992" y="5029200"/>
            <a:ext cx="1517904" cy="6400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99432" y="5157216"/>
            <a:ext cx="1335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62B4A"/>
                </a:solidFill>
                <a:latin typeface="Calibri"/>
              </a:rPr>
              <a:t>poi_travel_matrix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9432" y="5468112"/>
            <a:ext cx="13350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B80"/>
                </a:solidFill>
                <a:latin typeface="Calibri"/>
              </a:rPr>
              <a:t>walk / auto / taxi precomputed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10528" y="5029200"/>
            <a:ext cx="1517904" cy="86868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587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510528" y="5029200"/>
            <a:ext cx="1517904" cy="6400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01968" y="5157216"/>
            <a:ext cx="1335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62B4A"/>
                </a:solidFill>
                <a:latin typeface="Calibri"/>
              </a:rPr>
              <a:t>poi_media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01968" y="5468112"/>
            <a:ext cx="13350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B80"/>
                </a:solidFill>
                <a:latin typeface="Calibri"/>
              </a:rPr>
              <a:t>images &amp; audio per POI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053328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0"/>
                </a:solidFill>
                <a:latin typeface="Calibri"/>
              </a:rPr>
              <a:t>Schema: data-model/schema.sql  ·  Seeds: data-model/seed/ (13 CSVs)  ·  Mapping: data-model/DATA_MODEL.md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12280" y="1463040"/>
            <a:ext cx="4892040" cy="4663440"/>
          </a:xfrm>
          <a:prstGeom prst="roundRect">
            <a:avLst>
              <a:gd name="adj" fmla="val 12000"/>
            </a:avLst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86600" y="16459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C389"/>
                </a:solidFill>
                <a:latin typeface="Calibri"/>
              </a:rPr>
              <a:t>Boundary rules enforced in code</a:t>
            </a:r>
          </a:p>
        </p:txBody>
      </p:sp>
      <p:sp>
        <p:nvSpPr>
          <p:cNvPr id="65" name="Oval 64"/>
          <p:cNvSpPr/>
          <p:nvPr/>
        </p:nvSpPr>
        <p:spPr>
          <a:xfrm>
            <a:off x="7086600" y="2148840"/>
            <a:ext cx="457200" cy="457200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162B4A"/>
                </a:solidFill>
              </a:rPr>
              <a:t>R1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80960" y="2148840"/>
            <a:ext cx="3886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DB opened read-only (mode=ro) — never mutated</a:t>
            </a:r>
          </a:p>
        </p:txBody>
      </p:sp>
      <p:sp>
        <p:nvSpPr>
          <p:cNvPr id="67" name="Oval 66"/>
          <p:cNvSpPr/>
          <p:nvPr/>
        </p:nvSpPr>
        <p:spPr>
          <a:xfrm>
            <a:off x="7086600" y="2807208"/>
            <a:ext cx="457200" cy="457200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162B4A"/>
                </a:solidFill>
              </a:rPr>
              <a:t>R2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80960" y="2807208"/>
            <a:ext cx="3886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poi_id treated as opaque strings</a:t>
            </a:r>
          </a:p>
        </p:txBody>
      </p:sp>
      <p:sp>
        <p:nvSpPr>
          <p:cNvPr id="69" name="Oval 68"/>
          <p:cNvSpPr/>
          <p:nvPr/>
        </p:nvSpPr>
        <p:spPr>
          <a:xfrm>
            <a:off x="7086600" y="3465576"/>
            <a:ext cx="457200" cy="457200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162B4A"/>
                </a:solidFill>
              </a:rPr>
              <a:t>R3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0" y="3465576"/>
            <a:ext cx="3886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currency minor_unit_exponent → correct display (¥, ₹, KD)</a:t>
            </a:r>
          </a:p>
        </p:txBody>
      </p:sp>
      <p:sp>
        <p:nvSpPr>
          <p:cNvPr id="71" name="Oval 70"/>
          <p:cNvSpPr/>
          <p:nvPr/>
        </p:nvSpPr>
        <p:spPr>
          <a:xfrm>
            <a:off x="7086600" y="4123944"/>
            <a:ext cx="457200" cy="457200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162B4A"/>
                </a:solidFill>
              </a:rPr>
              <a:t>R6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80960" y="4123944"/>
            <a:ext cx="3886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BCP-47 only — exactly en-IN · kn-IN · te-IN accepted</a:t>
            </a:r>
          </a:p>
        </p:txBody>
      </p:sp>
      <p:sp>
        <p:nvSpPr>
          <p:cNvPr id="73" name="Oval 72"/>
          <p:cNvSpPr/>
          <p:nvPr/>
        </p:nvSpPr>
        <p:spPr>
          <a:xfrm>
            <a:off x="7086600" y="4782312"/>
            <a:ext cx="457200" cy="457200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162B4A"/>
                </a:solidFill>
              </a:rPr>
              <a:t>R7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80960" y="4782312"/>
            <a:ext cx="3886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WGS-84 coordinates + haversine distance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086600" y="5230368"/>
            <a:ext cx="4343400" cy="640080"/>
          </a:xfrm>
          <a:prstGeom prst="roundRect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69480" y="5321808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2B4A"/>
                </a:solidFill>
                <a:latin typeface="Calibri"/>
              </a:rPr>
              <a:t>13 tables · 12,289 rows · PS-06.db (read-only)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C389"/>
                </a:solidFill>
                <a:latin typeface="Calibri"/>
              </a:rPr>
              <a:t>DEMO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Five taps from photo to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45720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FFC85C"/>
                </a:solidFill>
                <a:latin typeface="Calibri"/>
              </a:rPr>
              <a:t>PS-06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Calibri"/>
              </a:rPr>
              <a:t>LensGuide · KogniVera Hackathon 2026 · PS-06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657600" cy="199339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3657600" cy="10972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719072"/>
            <a:ext cx="502920" cy="502920"/>
          </a:xfrm>
          <a:prstGeom prst="ellipse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0C389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55648"/>
            <a:ext cx="2697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B4A"/>
                </a:solidFill>
                <a:latin typeface="Calibri"/>
              </a:rPr>
              <a:t>Open &amp; Allow GPS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14016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052"/>
                </a:solidFill>
                <a:latin typeface="Calibri"/>
              </a:rPr>
              <a:t>Snap tab · camera/upload · location shared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481328"/>
            <a:ext cx="3657600" cy="199339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8" y="1481328"/>
            <a:ext cx="3657600" cy="10972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90288" y="1719072"/>
            <a:ext cx="502920" cy="502920"/>
          </a:xfrm>
          <a:prstGeom prst="ellipse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0C389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1755648"/>
            <a:ext cx="2697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B4A"/>
                </a:solidFill>
                <a:latin typeface="Calibri"/>
              </a:rPr>
              <a:t>Snap → Identify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414016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052"/>
                </a:solidFill>
                <a:latin typeface="Calibri"/>
              </a:rPr>
              <a:t>Landmark / sign / menu / dish recognised by vision LLM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11896" y="1481328"/>
            <a:ext cx="3657600" cy="199339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11896" y="1481328"/>
            <a:ext cx="3657600" cy="10972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94776" y="1719072"/>
            <a:ext cx="502920" cy="502920"/>
          </a:xfrm>
          <a:prstGeom prst="ellipse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0C389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1755648"/>
            <a:ext cx="2697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B4A"/>
                </a:solidFill>
                <a:latin typeface="Calibri"/>
              </a:rPr>
              <a:t>Get the 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4776" y="2414016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052"/>
                </a:solidFill>
                <a:latin typeface="Calibri"/>
              </a:rPr>
              <a:t>Nearest catalogue POI (≤2 km) or live visual ID (+ name)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657600"/>
            <a:ext cx="3657600" cy="199339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657600"/>
            <a:ext cx="3657600" cy="10972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3895344"/>
            <a:ext cx="502920" cy="502920"/>
          </a:xfrm>
          <a:prstGeom prst="ellipse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0C389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931920"/>
            <a:ext cx="2697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B4A"/>
                </a:solidFill>
                <a:latin typeface="Calibri"/>
              </a:rPr>
              <a:t>Explore Nearby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590288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052"/>
                </a:solidFill>
                <a:latin typeface="Calibri"/>
              </a:rPr>
              <a:t>Top-10 landmarks by real GPS distance — tap to open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7408" y="3657600"/>
            <a:ext cx="3657600" cy="199339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07408" y="3657600"/>
            <a:ext cx="3657600" cy="10972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90288" y="3895344"/>
            <a:ext cx="502920" cy="502920"/>
          </a:xfrm>
          <a:prstGeom prst="ellipse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0C389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3931920"/>
            <a:ext cx="2697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B4A"/>
                </a:solidFill>
                <a:latin typeface="Calibri"/>
              </a:rPr>
              <a:t>Read Info 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4590288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052"/>
                </a:solidFill>
                <a:latin typeface="Calibri"/>
              </a:rPr>
              <a:t>Grounded facts, knowledge, hours, cost, accessibility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11896" y="3657600"/>
            <a:ext cx="3657600" cy="199339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11896" y="3657600"/>
            <a:ext cx="3657600" cy="10972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94776" y="3895344"/>
            <a:ext cx="502920" cy="502920"/>
          </a:xfrm>
          <a:prstGeom prst="ellipse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0C389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4856" y="3931920"/>
            <a:ext cx="2697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B4A"/>
                </a:solidFill>
                <a:latin typeface="Calibri"/>
              </a:rPr>
              <a:t>Translate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94776" y="4590288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052"/>
                </a:solidFill>
                <a:latin typeface="Calibri"/>
              </a:rPr>
              <a:t>Same photo → Kannada / Telugu / English native script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897880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943600"/>
            <a:ext cx="10789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2B4A"/>
                </a:solidFill>
                <a:latin typeface="Calibri"/>
              </a:rPr>
              <a:t>Verified end-to-end:  Kannada lyric screenshot → translate to ಕನ್ನಡ / తెలుగు / English with correct native script, plus identify with Bangalore GPS (10 nearby landmarks).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C389"/>
                </a:solidFill>
                <a:latin typeface="Calibri"/>
              </a:rPr>
              <a:t>TESTS &amp;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Proof, tests, and what's in the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45720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FFC85C"/>
                </a:solidFill>
                <a:latin typeface="Calibri"/>
              </a:rPr>
              <a:t>PS-06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B80"/>
                </a:solidFill>
                <a:latin typeface="Calibri"/>
              </a:rPr>
              <a:t>LensGuide · KogniVera Hackathon 2026 · PS-06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394960" cy="233172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2B4A"/>
                </a:solidFill>
                <a:latin typeface="Calibri"/>
              </a:rPr>
              <a:t>Test suite (11 tests)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148839"/>
            <a:ext cx="128016" cy="128016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0312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052"/>
                </a:solidFill>
                <a:latin typeface="Calibri"/>
              </a:rPr>
              <a:t>Provider fallback on rate-limit &amp; quota-exhaustion (429 contract)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560320"/>
            <a:ext cx="128016" cy="128016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51460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052"/>
                </a:solidFill>
                <a:latin typeface="Calibri"/>
              </a:rPr>
              <a:t>Cache prevents repeat LLM calls; transport errors → structured LLMError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971800"/>
            <a:ext cx="128016" cy="128016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92608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052"/>
                </a:solidFill>
                <a:latin typeface="Calibri"/>
              </a:rPr>
              <a:t>Only en-IN / kn-IN / te-IN accepted (Rule R6)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83280"/>
            <a:ext cx="128016" cy="128016"/>
          </a:xfrm>
          <a:prstGeom prst="ellipse">
            <a:avLst/>
          </a:prstGeom>
          <a:solidFill>
            <a:srgbClr val="00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33756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052"/>
                </a:solidFill>
                <a:latin typeface="Calibri"/>
              </a:rPr>
              <a:t>Dataset-reference fallback when AI quota is exhausted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77639"/>
            <a:ext cx="5394960" cy="21488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14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2B4A"/>
                </a:solidFill>
                <a:latin typeface="Calibri"/>
              </a:rPr>
              <a:t>Data conformance &amp; runtime 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53712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052"/>
                </a:solidFill>
                <a:latin typeface="Calibri"/>
              </a:rPr>
              <a:t>✓  conformance tool passes D1–D9 + extensions on PS-06.db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052"/>
                </a:solidFill>
                <a:latin typeface="Calibri"/>
              </a:rPr>
              <a:t>✓  /api/health → ok:true · local_ai:true · 900 POIs indexed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052"/>
                </a:solidFill>
                <a:latin typeface="Calibri"/>
              </a:rPr>
              <a:t>✓  train/eval split respected; DB never mutated (R1)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052"/>
                </a:solidFill>
                <a:latin typeface="Calibri"/>
              </a:rPr>
              <a:t>✓  live: HTTPS :8000 (web) · HTTP :8004 (app) · LM Studio :1234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463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2B4A"/>
                </a:solidFill>
                <a:latin typeface="Calibri"/>
              </a:rPr>
              <a:t>Repository (required hackathon layout)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938528"/>
            <a:ext cx="1874519" cy="365760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" rIns="5000"/>
          <a:lstStyle/>
          <a:p>
            <a:pPr algn="ctr"/>
            <a:r>
              <a:rPr sz="1050" b="1">
                <a:solidFill>
                  <a:srgbClr val="00C389"/>
                </a:solidFill>
                <a:latin typeface="Consolas"/>
              </a:rPr>
              <a:t>frontend/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194767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052"/>
                </a:solidFill>
                <a:latin typeface="Calibri"/>
              </a:rPr>
              <a:t>web SPA (src/) + React Native app (expo-app/)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395728"/>
            <a:ext cx="1874519" cy="365760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" rIns="5000"/>
          <a:lstStyle/>
          <a:p>
            <a:pPr algn="ctr"/>
            <a:r>
              <a:rPr sz="1050" b="1">
                <a:solidFill>
                  <a:srgbClr val="00C389"/>
                </a:solidFill>
                <a:latin typeface="Consolas"/>
              </a:rPr>
              <a:t>backend/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40487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052"/>
                </a:solidFill>
                <a:latin typeface="Calibri"/>
              </a:rPr>
              <a:t>Flask — app.py · llm.py · db.py + requirements.txt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852928"/>
            <a:ext cx="1874519" cy="365760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" rIns="5000"/>
          <a:lstStyle/>
          <a:p>
            <a:pPr algn="ctr"/>
            <a:r>
              <a:rPr sz="1050" b="1">
                <a:solidFill>
                  <a:srgbClr val="00C389"/>
                </a:solidFill>
                <a:latin typeface="Consolas"/>
              </a:rPr>
              <a:t>data-model/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86207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052"/>
                </a:solidFill>
                <a:latin typeface="Calibri"/>
              </a:rPr>
              <a:t>schema.sql · 13 seed CSVs · DATA_MODEL.md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310128"/>
            <a:ext cx="1874519" cy="365760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" rIns="5000"/>
          <a:lstStyle/>
          <a:p>
            <a:pPr algn="ctr"/>
            <a:r>
              <a:rPr sz="1050" b="1">
                <a:solidFill>
                  <a:srgbClr val="00C389"/>
                </a:solidFill>
                <a:latin typeface="Consolas"/>
              </a:rPr>
              <a:t>ai/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31927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052"/>
                </a:solidFill>
                <a:latin typeface="Calibri"/>
              </a:rPr>
              <a:t>prompts/ (identify.md, translate.md) · pipeline/llm.py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767328"/>
            <a:ext cx="1874519" cy="365760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" rIns="5000"/>
          <a:lstStyle/>
          <a:p>
            <a:pPr algn="ctr"/>
            <a:r>
              <a:rPr sz="1050" b="1">
                <a:solidFill>
                  <a:srgbClr val="00C389"/>
                </a:solidFill>
                <a:latin typeface="Consolas"/>
              </a:rPr>
              <a:t>docs/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77647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052"/>
                </a:solidFill>
                <a:latin typeface="Calibri"/>
              </a:rPr>
              <a:t>ARCHITECTURE.md (component diagram, data flows)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224528"/>
            <a:ext cx="1874519" cy="365760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" rIns="5000"/>
          <a:lstStyle/>
          <a:p>
            <a:pPr algn="ctr"/>
            <a:r>
              <a:rPr sz="1050" b="1">
                <a:solidFill>
                  <a:srgbClr val="00C389"/>
                </a:solidFill>
                <a:latin typeface="Consolas"/>
              </a:rPr>
              <a:t>tests/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23367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052"/>
                </a:solidFill>
                <a:latin typeface="Calibri"/>
              </a:rPr>
              <a:t>test_llm_fallback.py — 11 tests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681728"/>
            <a:ext cx="1874519" cy="365760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" rIns="5000"/>
          <a:lstStyle/>
          <a:p>
            <a:pPr algn="ctr"/>
            <a:r>
              <a:rPr sz="1050" b="1">
                <a:solidFill>
                  <a:srgbClr val="00C389"/>
                </a:solidFill>
                <a:latin typeface="Consolas"/>
              </a:rPr>
              <a:t>scripts/ + serve.sh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69087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052"/>
                </a:solidFill>
                <a:latin typeface="Calibri"/>
              </a:rPr>
              <a:t>start_local_ai.sh · serve.sh (root)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5138928"/>
            <a:ext cx="1874519" cy="365760"/>
          </a:xfrm>
          <a:prstGeom prst="rect">
            <a:avLst/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" rIns="5000"/>
          <a:lstStyle/>
          <a:p>
            <a:pPr algn="ctr"/>
            <a:r>
              <a:rPr sz="1050" b="1">
                <a:solidFill>
                  <a:srgbClr val="00C389"/>
                </a:solidFill>
                <a:latin typeface="Consolas"/>
              </a:rPr>
              <a:t>README + .env.example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14807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052"/>
                </a:solidFill>
                <a:latin typeface="Calibri"/>
              </a:rPr>
              <a:t>8-section contract + all env vars documented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5715000"/>
            <a:ext cx="5440680" cy="50292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5769864"/>
            <a:ext cx="5120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2B4A"/>
                </a:solidFill>
                <a:latin typeface="Calibri"/>
              </a:rPr>
              <a:t>github.com/challalokesh08/LensGuide  ·  main  ·  8/8 slides verified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